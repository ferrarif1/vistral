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a58b69d661b4c25" /><Relationship Type="http://schemas.openxmlformats.org/officeDocument/2006/relationships/extended-properties" Target="/docProps/app.xml" Id="Ra3f8f38eef474f3e" /><Relationship Type="http://schemas.openxmlformats.org/officeDocument/2006/relationships/officeDocument" Target="/ppt/presentation.xml" Id="Rd4d7fff2e1804aa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017c765d0fd4975"/>
  </p:sldMasterIdLst>
  <p:notesMasterIdLst>
    <p:notesMasterId xmlns:r="http://schemas.openxmlformats.org/officeDocument/2006/relationships" r:id="R39a38314de3a4980"/>
  </p:notesMasterIdLst>
  <p:sldIdLst>
    <p:sldId xmlns:r="http://schemas.openxmlformats.org/officeDocument/2006/relationships" id="256" r:id="R384f567ad32b4d6a"/>
    <p:sldId xmlns:r="http://schemas.openxmlformats.org/officeDocument/2006/relationships" id="257" r:id="Re0155005e2cb441f"/>
    <p:sldId xmlns:r="http://schemas.openxmlformats.org/officeDocument/2006/relationships" id="258" r:id="Rc4c1ede77126434d"/>
    <p:sldId xmlns:r="http://schemas.openxmlformats.org/officeDocument/2006/relationships" id="259" r:id="R52af883966d94f79"/>
    <p:sldId xmlns:r="http://schemas.openxmlformats.org/officeDocument/2006/relationships" id="260" r:id="R7041f58bb5bc4d60"/>
    <p:sldId xmlns:r="http://schemas.openxmlformats.org/officeDocument/2006/relationships" id="261" r:id="R28c874404ef846c8"/>
    <p:sldId xmlns:r="http://schemas.openxmlformats.org/officeDocument/2006/relationships" id="262" r:id="Rcdcbe2c4448545d3"/>
    <p:sldId xmlns:r="http://schemas.openxmlformats.org/officeDocument/2006/relationships" id="263" r:id="R00753f592271474e"/>
    <p:sldId xmlns:r="http://schemas.openxmlformats.org/officeDocument/2006/relationships" id="264" r:id="R24af76d769fd41e1"/>
    <p:sldId xmlns:r="http://schemas.openxmlformats.org/officeDocument/2006/relationships" id="265" r:id="Rabe58ee2b29d475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17c765d0fd4975" /><Relationship Type="http://schemas.openxmlformats.org/officeDocument/2006/relationships/theme" Target="/ppt/theme/theme1.xml" Id="Rb58199e9fd1648cd" /><Relationship Type="http://schemas.openxmlformats.org/officeDocument/2006/relationships/notesMaster" Target="/ppt/notesMasters/notesMaster1.xml" Id="R39a38314de3a4980" /><Relationship Type="http://schemas.openxmlformats.org/officeDocument/2006/relationships/presProps" Target="/ppt/presProps.xml" Id="Rf0291a509ba249a5" /><Relationship Type="http://schemas.openxmlformats.org/officeDocument/2006/relationships/viewProps" Target="/ppt/viewProps.xml" Id="R0bd43c10540c4803" /><Relationship Type="http://schemas.openxmlformats.org/officeDocument/2006/relationships/tableStyles" Target="/ppt/tableStyles.xml" Id="R5d30ebff077e4371" /><Relationship Type="http://schemas.openxmlformats.org/officeDocument/2006/relationships/slide" Target="/ppt/slides/slide1.xml" Id="R384f567ad32b4d6a" /><Relationship Type="http://schemas.openxmlformats.org/officeDocument/2006/relationships/slide" Target="/ppt/slides/slide2.xml" Id="Re0155005e2cb441f" /><Relationship Type="http://schemas.openxmlformats.org/officeDocument/2006/relationships/slide" Target="/ppt/slides/slide3.xml" Id="Rc4c1ede77126434d" /><Relationship Type="http://schemas.openxmlformats.org/officeDocument/2006/relationships/slide" Target="/ppt/slides/slide4.xml" Id="R52af883966d94f79" /><Relationship Type="http://schemas.openxmlformats.org/officeDocument/2006/relationships/slide" Target="/ppt/slides/slide5.xml" Id="R7041f58bb5bc4d60" /><Relationship Type="http://schemas.openxmlformats.org/officeDocument/2006/relationships/slide" Target="/ppt/slides/slide6.xml" Id="R28c874404ef846c8" /><Relationship Type="http://schemas.openxmlformats.org/officeDocument/2006/relationships/slide" Target="/ppt/slides/slide7.xml" Id="Rcdcbe2c4448545d3" /><Relationship Type="http://schemas.openxmlformats.org/officeDocument/2006/relationships/slide" Target="/ppt/slides/slide8.xml" Id="R00753f592271474e" /><Relationship Type="http://schemas.openxmlformats.org/officeDocument/2006/relationships/slide" Target="/ppt/slides/slide9.xml" Id="R24af76d769fd41e1" /><Relationship Type="http://schemas.openxmlformats.org/officeDocument/2006/relationships/slide" Target="/ppt/slides/slide10.xml" Id="Rabe58ee2b29d475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bfc08433e8141d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0ba36089fe042cf" /><Relationship Type="http://schemas.openxmlformats.org/officeDocument/2006/relationships/notesMaster" Target="/ppt/notesMasters/notesMaster1.xml" Id="Ra0c21c8f70eb480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96b01d7ca8f4352" /><Relationship Type="http://schemas.openxmlformats.org/officeDocument/2006/relationships/notesMaster" Target="/ppt/notesMasters/notesMaster1.xml" Id="Ra0e9f3b8ed3c40c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c99a0bb0d424f1a" /><Relationship Type="http://schemas.openxmlformats.org/officeDocument/2006/relationships/notesMaster" Target="/ppt/notesMasters/notesMaster1.xml" Id="R89f84e5cfcac4a0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88a4e6a95d5460f" /><Relationship Type="http://schemas.openxmlformats.org/officeDocument/2006/relationships/notesMaster" Target="/ppt/notesMasters/notesMaster1.xml" Id="Rdeb54ccd3b1d489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4eb38eb4bb24708" /><Relationship Type="http://schemas.openxmlformats.org/officeDocument/2006/relationships/notesMaster" Target="/ppt/notesMasters/notesMaster1.xml" Id="R5a07ef7280234a8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040c238e7454827" /><Relationship Type="http://schemas.openxmlformats.org/officeDocument/2006/relationships/notesMaster" Target="/ppt/notesMasters/notesMaster1.xml" Id="Rc5bdda7dfe294cd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f228f2a94a148af" /><Relationship Type="http://schemas.openxmlformats.org/officeDocument/2006/relationships/notesMaster" Target="/ppt/notesMasters/notesMaster1.xml" Id="R8df71e909866435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cf180b39b0c499a" /><Relationship Type="http://schemas.openxmlformats.org/officeDocument/2006/relationships/notesMaster" Target="/ppt/notesMasters/notesMaster1.xml" Id="R2cb57c9fb48e4d3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500e9e46e904061" /><Relationship Type="http://schemas.openxmlformats.org/officeDocument/2006/relationships/notesMaster" Target="/ppt/notesMasters/notesMaster1.xml" Id="Rb6f425c0bdaf4c9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8f3683a8dec4481" /><Relationship Type="http://schemas.openxmlformats.org/officeDocument/2006/relationships/notesMaster" Target="/ppt/notesMasters/notesMaster1.xml" Id="Raa042f18dccf49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619aaf058b46af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46a8ada1c3c44be4" /><Relationship Type="http://schemas.openxmlformats.org/officeDocument/2006/relationships/slideLayout" Target="/ppt/slideLayouts/slideLayout2.xml" Id="R2ef6ae6da064410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ef6ae6da064410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b1aa6fbe16a4130" /><Relationship Type="http://schemas.openxmlformats.org/officeDocument/2006/relationships/notesSlide" Target="/ppt/notesSlides/notesSlide1.xml" Id="Rce8e2eb8e458461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bf9cc7c1b345f8" /><Relationship Type="http://schemas.openxmlformats.org/officeDocument/2006/relationships/notesSlide" Target="/ppt/notesSlides/notesSlide2.xml" Id="R0fec3332e11e42f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ce4eda088e64330" /><Relationship Type="http://schemas.openxmlformats.org/officeDocument/2006/relationships/notesSlide" Target="/ppt/notesSlides/notesSlide3.xml" Id="R219b02c97a894a2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2709acb1204ab5" /><Relationship Type="http://schemas.openxmlformats.org/officeDocument/2006/relationships/notesSlide" Target="/ppt/notesSlides/notesSlide4.xml" Id="R8cf3d1522bb446a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e14b04aef734649" /><Relationship Type="http://schemas.openxmlformats.org/officeDocument/2006/relationships/notesSlide" Target="/ppt/notesSlides/notesSlide5.xml" Id="Re277d62e9d1942d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9383012760740ae" /><Relationship Type="http://schemas.openxmlformats.org/officeDocument/2006/relationships/notesSlide" Target="/ppt/notesSlides/notesSlide6.xml" Id="R228db006f51d4b7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0776dca06f4791" /><Relationship Type="http://schemas.openxmlformats.org/officeDocument/2006/relationships/notesSlide" Target="/ppt/notesSlides/notesSlide7.xml" Id="Ra6b8309324e04c3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5a35b470c70405a" /><Relationship Type="http://schemas.openxmlformats.org/officeDocument/2006/relationships/notesSlide" Target="/ppt/notesSlides/notesSlide8.xml" Id="Rb5009d9b729645d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48894b1ed6a4b15" /><Relationship Type="http://schemas.openxmlformats.org/officeDocument/2006/relationships/notesSlide" Target="/ppt/notesSlides/notesSlide9.xml" Id="R6f4864656cab439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94afa45f83a40c6" /><Relationship Type="http://schemas.openxmlformats.org/officeDocument/2006/relationships/notesSlide" Target="/ppt/notesSlides/notesSlide10.xml" Id="Re7cc9151164e4fa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4C440F-99F1-40A5-9ABB-71065FFCD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3F7552-F48E-4E15-A72A-A087DF1A3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7A01A9-6902-40E5-B734-7AABEBE77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4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1070AB-37C8-4E30-9B3D-DCF387B25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5717D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5717D"/>
                </a:solidFill>
                <a:latin typeface="Avenir Next"/>
                <a:ea typeface="Avenir Next"/>
                <a:cs typeface="Avenir Next"/>
              </a:rPr>
              <a:t>INCIDENT BRIEF | RANSOMWARE RESPONSE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EBD885-94D3-4F49-B41C-9D4748BE7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6191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车号识别系统勒索病毒事件：关键处置闭环与复盘整改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E2DDD4-D546-45B2-B9E4-5B271BB4C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571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17D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5717D"/>
                </a:solidFill>
                <a:latin typeface="PingFang SC"/>
                <a:ea typeface="PingFang SC"/>
                <a:cs typeface="PingFang SC"/>
              </a:rPr>
              <a:t>2026 年 5 月 13 日夜间 · 虚拟机隔离、暂停取证、备用机接管、供应链风险初判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D0E33F-228C-46A1-BD5B-05DAC6178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8130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F84E23-82C7-42FB-B48E-1AE9DBC1C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19450"/>
            <a:ext cx="381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4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C886AB-BBAA-40C4-BD31-B3E751DC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02A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>
                <a:solidFill>
                  <a:srgbClr val="17202A"/>
                </a:solidFill>
                <a:latin typeface="Avenir Next"/>
                <a:ea typeface="Avenir Next"/>
                <a:cs typeface="Avenir Next"/>
              </a:rPr>
              <a:t>15m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A59580-DD33-42D3-AFD8-806E824EA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1600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从发现到响应启动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92E548-0041-40A9-A461-20A6E0BD4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5717D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65717D"/>
                </a:solidFill>
                <a:latin typeface="PingFang SC"/>
                <a:ea typeface="PingFang SC"/>
                <a:cs typeface="PingFang SC"/>
              </a:rPr>
              <a:t>22:15 发现 · 22:30 启动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5EE276-22E0-4D96-84D7-FE2F11CEA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219450"/>
            <a:ext cx="381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B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B318E6-D528-4B93-BC6C-30CEC2500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2004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02A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>
                <a:solidFill>
                  <a:srgbClr val="17202A"/>
                </a:solidFill>
                <a:latin typeface="Avenir Next"/>
                <a:ea typeface="Avenir Next"/>
                <a:cs typeface="Avenir Next"/>
              </a:rPr>
              <a:t>1 VM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3CCE8B-A8F8-468A-974F-DD84DBF5C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562350"/>
            <a:ext cx="1600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影响面先收敛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EDE98B-A3CC-4A9C-8AB1-01C164590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7338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5717D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65717D"/>
                </a:solidFill>
                <a:latin typeface="PingFang SC"/>
                <a:ea typeface="PingFang SC"/>
                <a:cs typeface="PingFang SC"/>
              </a:rPr>
              <a:t>宿主机与同宿主其他 VM 正常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120EA9-AEFB-4AA0-B0A6-F962341A6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19450"/>
            <a:ext cx="381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B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D45CE0-3956-4092-A153-D8E012103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004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02A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>
                <a:solidFill>
                  <a:srgbClr val="17202A"/>
                </a:solidFill>
                <a:latin typeface="Avenir Next"/>
                <a:ea typeface="Avenir Next"/>
                <a:cs typeface="Avenir Next"/>
              </a:rPr>
              <a:t>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2627CC-4012-4261-ABB8-1D9B823AA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562350"/>
            <a:ext cx="1600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初判横向扩散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359295-0AD6-4C92-A375-4E073488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7338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5717D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65717D"/>
                </a:solidFill>
                <a:latin typeface="PingFang SC"/>
                <a:ea typeface="PingFang SC"/>
                <a:cs typeface="PingFang SC"/>
              </a:rPr>
              <a:t>同网络暂未发现同类异常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944B22-C725-4E18-821B-4FD561119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57700"/>
            <a:ext cx="561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首要原则：先冻结加密现场，再恢复业务能力；不在原受害机上抢修生产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A9A39E-DC1C-49BD-A3DC-4190712A4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704850"/>
            <a:ext cx="4495800" cy="472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6"/>
          </a:solidFill>
          <a:ln xmlns:a="http://schemas.openxmlformats.org/drawingml/2006/main" w="19050">
            <a:solidFill>
              <a:srgbClr val="0B111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C364B2-10C9-4BDB-AA46-DEEF75214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914400"/>
            <a:ext cx="41148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3F"/>
          </a:solidFill>
          <a:ln xmlns:a="http://schemas.openxmlformats.org/drawingml/2006/main" w="19050">
            <a:solidFill>
              <a:srgbClr val="0B111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9BF3ED-7F7B-46F7-8F7B-5B5A5E3AE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914400"/>
            <a:ext cx="4114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E8229F-13FA-4D60-8519-140F4E68C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990600"/>
            <a:ext cx="2476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CBD5E1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CBD5E1"/>
                </a:solidFill>
                <a:latin typeface="Avenir Next"/>
                <a:ea typeface="Avenir Next"/>
                <a:cs typeface="Avenir Next"/>
              </a:rPr>
              <a:t>VM console | 2026-05-13 22:24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59AA14-F59A-4A8C-9E9D-0225E04EE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409700"/>
            <a:ext cx="1851660" cy="255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DF3F70-B8D0-437A-96E8-D795F5364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695450"/>
            <a:ext cx="147066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4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E4F8D8-63E5-4944-9784-06CBDA9EE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838325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勒索提示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5AB9B5-4CED-4A46-8354-952DEEDE3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371725"/>
            <a:ext cx="148132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部分文件后缀异常</a:t>
            </a:r>
          </a:p>
          <a:p xmlns:a="http://schemas.openxmlformats.org/drawingml/2006/main">
            <a:pPr algn="l">
              <a:defRPr sz="825" b="0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业务文件无法打开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0A1D46-AC56-4684-A740-E3C0DF231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152775"/>
            <a:ext cx="1399032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FCDFAD-D20E-467F-9055-6ACD9FB9D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409950"/>
            <a:ext cx="1110996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271C5C-0B1A-4103-B4D0-3E456AC54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667125"/>
            <a:ext cx="1563624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8507D82-C414-4697-A81C-37DFF99BD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2298" y="1409700"/>
            <a:ext cx="1769364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B8E1EB8-AB48-417C-98C3-5147F3F27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594" y="1552575"/>
            <a:ext cx="1428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CBD5E1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CBD5E1"/>
                </a:solidFill>
                <a:latin typeface="Avenir Next"/>
                <a:ea typeface="Avenir Next"/>
                <a:cs typeface="Avenir Next"/>
              </a:rPr>
              <a:t>Task Manager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7C55A78-3EFB-4A2C-A026-A74808FA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5742" y="180975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FCA5A5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FCA5A5"/>
                </a:solidFill>
                <a:latin typeface="Avenir Next"/>
                <a:ea typeface="Avenir Next"/>
                <a:cs typeface="Avenir Next"/>
              </a:rPr>
              <a:t>unknown.exe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6561441-8707-41E9-811F-4B4D73D35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82880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4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34016D8-B1D8-4471-87D0-1BBF10CC2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5742" y="203835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CBD5E1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CBD5E1"/>
                </a:solidFill>
                <a:latin typeface="Avenir Next"/>
                <a:ea typeface="Avenir Next"/>
                <a:cs typeface="Avenir Next"/>
              </a:rPr>
              <a:t>disk write high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BCE10BA-791E-43A2-B89F-249612162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057400"/>
            <a:ext cx="5238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B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B37AA21-D322-45CD-AF45-C433952C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5742" y="226695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CBD5E1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CBD5E1"/>
                </a:solidFill>
                <a:latin typeface="Avenir Next"/>
                <a:ea typeface="Avenir Next"/>
                <a:cs typeface="Avenir Next"/>
              </a:rPr>
              <a:t>CPU normal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BD03205-DDBE-4007-9AD7-CB0922805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286000"/>
            <a:ext cx="381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B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CA1D8EB-1ED5-44B8-AA56-98C15F961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2298" y="2762250"/>
            <a:ext cx="1769364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32F477F-EF7A-4631-8B82-E313BEB6C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594" y="2914650"/>
            <a:ext cx="1619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CBD5E1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CBD5E1"/>
                </a:solidFill>
                <a:latin typeface="Avenir Next"/>
                <a:ea typeface="Avenir Next"/>
                <a:cs typeface="Avenir Next"/>
              </a:rPr>
              <a:t>Virtualization action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56D81D3-A570-424A-920A-777B1A959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5742" y="3181350"/>
            <a:ext cx="16383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B8E"/>
          </a:solidFill>
          <a:ln xmlns:a="http://schemas.openxmlformats.org/drawingml/2006/main" w="9525">
            <a:solidFill>
              <a:srgbClr val="2D6B8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CE0EC9F-34D7-487E-981C-C8A9ADC38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0992" y="3219450"/>
            <a:ext cx="1447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22:23 断开虚拟网卡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78688D6-2EF6-4C09-8F77-41B454249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5742" y="3524250"/>
            <a:ext cx="14668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432"/>
          </a:solidFill>
          <a:ln xmlns:a="http://schemas.openxmlformats.org/drawingml/2006/main" w="9525">
            <a:solidFill>
              <a:srgbClr val="C7443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4CB7607-E4B6-49D8-AB32-F3D71213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0992" y="3562350"/>
            <a:ext cx="1276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22:24 暂停虚拟机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E0B78D7-A7F7-4D7B-B026-143C449B8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076700"/>
            <a:ext cx="3695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A19BE9C-5109-4E6D-8AAF-6AE7D8A93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33900"/>
            <a:ext cx="3924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3D3B6DD-560B-4153-9E5D-BB71F9519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6672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74432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C74432"/>
                </a:solidFill>
                <a:latin typeface="PingFang SC"/>
                <a:ea typeface="PingFang SC"/>
                <a:cs typeface="PingFang SC"/>
              </a:rPr>
              <a:t>复盘焦点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945431B-B463-4F05-A7C4-3AC2355F7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67250"/>
            <a:ext cx="2724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隔离边界、证据链、补丁包流转、灰度发布机制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BBFA68E-14DD-4C6A-ABB2-79F2A5F6E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000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5717D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5717D"/>
                </a:solidFill>
                <a:latin typeface="Avenir Next"/>
                <a:ea typeface="Avenir Next"/>
                <a:cs typeface="Avenir Next"/>
              </a:rPr>
              <a:t>DRAFT FOR REVIEW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0DA2CAD-90A4-49FA-B7EF-B5F5532A8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C2D04AD-79DB-4157-B3D2-121573E7D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5717D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65717D"/>
                </a:solidFill>
                <a:latin typeface="PingFang SC"/>
                <a:ea typeface="PingFang SC"/>
                <a:cs typeface="PingFang SC"/>
              </a:rPr>
              <a:t>Source: user-provided incident narrative | Generated briefing draft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DC003F0-6EEE-4120-9ACE-2480C1407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5717D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65717D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8130320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DF1DD0-96B3-4448-967F-CE841B688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952FD2-6CEB-427F-AAC3-00A22007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454E94-2052-4F9D-8F7A-BFA2CBB00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4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74633F-15F9-44A9-9373-3B74B1714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5717D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5717D"/>
                </a:solidFill>
                <a:latin typeface="Avenir Next"/>
                <a:ea typeface="Avenir Next"/>
                <a:cs typeface="Avenir Next"/>
              </a:rPr>
              <a:t>FIRST 15 MINUTES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08954B-2D7D-48ED-8363-96AF1D14D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7905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前 15 分钟的价值，是把事件固定在一个受害虚拟机内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7F9DBD-E6B9-43EA-9EB4-B3C1C2C0F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838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17D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5717D"/>
                </a:solidFill>
                <a:latin typeface="PingFang SC"/>
                <a:ea typeface="PingFang SC"/>
                <a:cs typeface="PingFang SC"/>
              </a:rPr>
              <a:t>关键不是“做了很多动作”，而是顺序正确：快报、断通信、保现场、冻结加密、正式启动。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1FF7CB-C6F1-49DB-B6A2-503C080AA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61DD8B-B3DD-458B-90E0-09E146E6A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28900"/>
            <a:ext cx="285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4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3B6C16-42F6-4AAE-B541-8F1E732C0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800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4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0BF2F4-8420-4452-AD79-7E9A6E8CB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22:15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33C3D0-133E-4EA4-97F4-4B2457A24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60045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异常发现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B76F05-32C9-416D-81BE-A867322E9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3943350"/>
            <a:ext cx="1676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5717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5717D"/>
                </a:solidFill>
                <a:latin typeface="PingFang SC"/>
                <a:ea typeface="PingFang SC"/>
                <a:cs typeface="PingFang SC"/>
              </a:rPr>
              <a:t>访问慢、功能超时；桌面出现勒索提示，文件后缀异常。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B938B0-D9CA-4D01-8E7B-43A5AA52F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628900"/>
            <a:ext cx="285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B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0FFBF9-4DBA-45B9-B377-9C61169C8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305050"/>
            <a:ext cx="800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B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2B19B7-3915-4A09-A694-28DD036F1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3812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22:23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270DBA-4780-4EEC-9AB3-BD8A9EB2B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60045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断虚拟网卡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476368-E9D2-4D8E-BCEC-83CF6E84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3943350"/>
            <a:ext cx="1676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5717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5717D"/>
                </a:solidFill>
                <a:latin typeface="PingFang SC"/>
                <a:ea typeface="PingFang SC"/>
                <a:cs typeface="PingFang SC"/>
              </a:rPr>
              <a:t>在虚拟化平台断开受影响 VM 网卡；网络侧按 IP/MAC 临时阻断。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C2BDE3-C9E3-476D-8F70-CE376A675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28900"/>
            <a:ext cx="285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4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2D95AF-8FAF-429E-991D-222FAE9FA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305050"/>
            <a:ext cx="800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4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9FDEED-C6AE-439E-A36E-4BF5AC83E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3812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22:24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EA82A8-F91E-4388-8DDE-9FC14B03C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60045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暂停虚拟机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05352E-8758-448B-9227-DE0F9383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943350"/>
            <a:ext cx="1676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5717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5717D"/>
                </a:solidFill>
                <a:latin typeface="PingFang SC"/>
                <a:ea typeface="PingFang SC"/>
                <a:cs typeface="PingFang SC"/>
              </a:rPr>
              <a:t>发现加密仍持续后，截图留痕并暂停 VM，冻结当前状态。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4513D6-A7EA-486E-9734-3341B2AD9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28900"/>
            <a:ext cx="285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6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02BF5F-6020-4D34-BBBA-706C54997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305050"/>
            <a:ext cx="800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6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F74DDE-DC35-4A5C-A297-0B1D280C4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3812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22:25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644051-8A4A-4B5A-9F67-63187DFC5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60045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正式首报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558291-FD1D-4EAC-A93D-E3F2E1D61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943350"/>
            <a:ext cx="1676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5717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5717D"/>
                </a:solidFill>
                <a:latin typeface="PingFang SC"/>
                <a:ea typeface="PingFang SC"/>
                <a:cs typeface="PingFang SC"/>
              </a:rPr>
              <a:t>工作群上报异常、隔离措施、业务影响和协调事项。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2EB0BC-288D-4972-A9C0-14328B34C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628900"/>
            <a:ext cx="285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B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A9298B-FAF1-4811-AEF1-8763F4247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305050"/>
            <a:ext cx="800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B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B6D8EF-61CF-4690-A8B3-2C6B5009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3812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22:30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D38F81-C4A6-4A66-B0A3-980C3C6B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60045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启动响应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877346-F937-446B-8174-4E6AFDF83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943350"/>
            <a:ext cx="1676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5717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5717D"/>
                </a:solidFill>
                <a:latin typeface="PingFang SC"/>
                <a:ea typeface="PingFang SC"/>
                <a:cs typeface="PingFang SC"/>
              </a:rPr>
              <a:t>总指挥宣布启动勒索病毒与系统应急响应。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5E608A-8FC1-4364-BE3C-3E0D175FD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0"/>
            <a:ext cx="10287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2654DAF-9CDC-4587-8895-9111740AF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29250"/>
            <a:ext cx="8191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102C398-A023-4ED0-9D06-716885BE4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67350"/>
            <a:ext cx="628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现场保全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2B30BC2-ECC6-4B95-BE49-AAABD52D0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353050"/>
            <a:ext cx="6429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未关机、未重启、未删文件、未清进程、未直接杀毒；把证据破坏风险压到最低。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841D3EA-006A-4DD9-A8D8-C33E68C7B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676900"/>
            <a:ext cx="7524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17D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5717D"/>
                </a:solidFill>
                <a:latin typeface="PingFang SC"/>
                <a:ea typeface="PingFang SC"/>
                <a:cs typeface="PingFang SC"/>
              </a:rPr>
              <a:t>同一宿主机承载其他业务 VM，因此没有拔宿主机网线，也没有关闭宿主机上联端口。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7C20ECB-5870-4513-A03D-EB00A4068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DC63316-56E6-40F7-ABC6-E44298AB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5717D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65717D"/>
                </a:solidFill>
                <a:latin typeface="PingFang SC"/>
                <a:ea typeface="PingFang SC"/>
                <a:cs typeface="PingFang SC"/>
              </a:rPr>
              <a:t>Source: user-provided incident narrative | Generated briefing draft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847A16F-E39A-4935-90EE-5FE1827A9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5717D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65717D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8923995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47548A-9189-4F23-A684-638C6E35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D7DD04-CD13-49E3-B1CB-0711375F2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02286C-87B0-437D-8D12-F0A9515FF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4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93131D-B4B8-4FEE-80D6-01A472158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5717D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5717D"/>
                </a:solidFill>
                <a:latin typeface="Avenir Next"/>
                <a:ea typeface="Avenir Next"/>
                <a:cs typeface="Avenir Next"/>
              </a:rPr>
              <a:t>CONTAINMENT DESIGN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3DC45C-9425-41E5-A110-BE259AD0C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477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隔离动作选在虚拟化层，避免把宿主机和其他业务一起拖下线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FBA30B-5B80-4E8E-8F9B-E275C8DE8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5717D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65717D"/>
                </a:solidFill>
                <a:latin typeface="PingFang SC"/>
                <a:ea typeface="PingFang SC"/>
                <a:cs typeface="PingFang SC"/>
              </a:rPr>
              <a:t>处置组确认受影响服务器运行于虚拟化平台；同宿主仍承载其他业务 VM。隔离边界因此落在“受影响 VM 网卡 + 网络侧临时阻断”。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E3D45A-4966-4E75-B70C-BE39ABC02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20002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443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9B8B76-9501-4C4E-A545-A3C365CA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4762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4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766584-E1B3-495B-B203-83FA38455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38450"/>
            <a:ext cx="1733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受影响 VM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45B03C-073E-4A2A-9EDA-96F265FAB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17335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5717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5717D"/>
                </a:solidFill>
                <a:latin typeface="PingFang SC"/>
                <a:ea typeface="PingFang SC"/>
                <a:cs typeface="PingFang SC"/>
              </a:rPr>
              <a:t>勒索提示、文件后缀异常、加密仍持续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2491A1-46B5-4394-9AC6-7D07453C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24150"/>
            <a:ext cx="20955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D6B8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F2162B-DB14-4FAD-B8DD-09823F3D5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24150"/>
            <a:ext cx="4762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B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E60426-528A-4CB7-BF54-640583457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838450"/>
            <a:ext cx="182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虚拟网卡断开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0BF910-EBF0-4B57-9B3E-7B2A27C69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05150"/>
            <a:ext cx="1828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5717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5717D"/>
                </a:solidFill>
                <a:latin typeface="PingFang SC"/>
                <a:ea typeface="PingFang SC"/>
                <a:cs typeface="PingFang SC"/>
              </a:rPr>
              <a:t>22:23 通过虚拟化管理平台断开连接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2EFE24-BF36-4E19-906D-A9AC54862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24150"/>
            <a:ext cx="20955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D6B8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1A84FA-28BE-4655-A17E-D1F955E42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24150"/>
            <a:ext cx="4762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B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ECFB47-CDF5-4CEA-91D1-92E371D19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38450"/>
            <a:ext cx="182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网络侧阻断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97D71E-3A2A-4252-A66F-A69DDC5F6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05150"/>
            <a:ext cx="1828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5717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5717D"/>
                </a:solidFill>
                <a:latin typeface="PingFang SC"/>
                <a:ea typeface="PingFang SC"/>
                <a:cs typeface="PingFang SC"/>
              </a:rPr>
              <a:t>按 IP / MAC 禁止与同网段设备通信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B0504D-BF18-4CE4-864B-23F0832A2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24150"/>
            <a:ext cx="20955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443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B5C5E6-8702-439F-A404-64130E633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24150"/>
            <a:ext cx="4762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4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0C6C52-CBE8-4F09-AA17-F3CC8A9AE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838450"/>
            <a:ext cx="182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VM 暂停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7DB96C-F3FB-4183-ABF4-3D6132427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105150"/>
            <a:ext cx="1828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5717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5717D"/>
                </a:solidFill>
                <a:latin typeface="PingFang SC"/>
                <a:ea typeface="PingFang SC"/>
                <a:cs typeface="PingFang SC"/>
              </a:rPr>
              <a:t>22:24 冻结系统状态，阻止继续加密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9F8821-D575-4DAD-B047-9284E1357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21945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B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4BC2E5-F964-4F5A-8512-C9103850C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181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B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1733E4-391B-4E1B-A41C-EF0E04A31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990850"/>
            <a:ext cx="628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2D6B8E"/>
                </a:solidFill>
                <a:latin typeface="PingFang SC"/>
                <a:ea typeface="PingFang SC"/>
                <a:cs typeface="PingFang SC"/>
              </a:defRPr>
            </a:pPr>
            <a:r>
              <a:rPr sz="600" b="0">
                <a:solidFill>
                  <a:srgbClr val="2D6B8E"/>
                </a:solidFill>
                <a:latin typeface="PingFang SC"/>
                <a:ea typeface="PingFang SC"/>
                <a:cs typeface="PingFang SC"/>
              </a:rPr>
              <a:t>通信阻断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57273B-6CE4-4DFF-BADF-51BD790ED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21945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B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535F85-EF78-401E-9572-EE1B25E84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181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B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0E3FD1-FC51-493E-9FEB-4EB0FABC5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990850"/>
            <a:ext cx="628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2D6B8E"/>
                </a:solidFill>
                <a:latin typeface="PingFang SC"/>
                <a:ea typeface="PingFang SC"/>
                <a:cs typeface="PingFang SC"/>
              </a:defRPr>
            </a:pPr>
            <a:r>
              <a:rPr sz="600" b="0">
                <a:solidFill>
                  <a:srgbClr val="2D6B8E"/>
                </a:solidFill>
                <a:latin typeface="PingFang SC"/>
                <a:ea typeface="PingFang SC"/>
                <a:cs typeface="PingFang SC"/>
              </a:rPr>
              <a:t>双侧收敛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291779-7DFC-49A1-8A0B-C4AB875C4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21945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4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A78862-CCB7-4815-A8B6-53DF4D569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181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4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B78D28-037C-40D1-B783-7037BDCC2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90850"/>
            <a:ext cx="628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C74432"/>
                </a:solidFill>
                <a:latin typeface="PingFang SC"/>
                <a:ea typeface="PingFang SC"/>
                <a:cs typeface="PingFang SC"/>
              </a:defRPr>
            </a:pPr>
            <a:r>
              <a:rPr sz="600" b="0">
                <a:solidFill>
                  <a:srgbClr val="C74432"/>
                </a:solidFill>
                <a:latin typeface="PingFang SC"/>
                <a:ea typeface="PingFang SC"/>
                <a:cs typeface="PingFang SC"/>
              </a:rPr>
              <a:t>加密仍持续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6CD49A-620B-4E58-96A9-4495EA36D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52950"/>
            <a:ext cx="9601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DB1F8E6-DCBD-4864-9E7B-8F9EC81F7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38700"/>
            <a:ext cx="7429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62F"/>
          </a:solidFill>
          <a:ln xmlns:a="http://schemas.openxmlformats.org/drawingml/2006/main" w="9525">
            <a:solidFill>
              <a:srgbClr val="D5962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FC46358-C68F-48F3-BDC5-1C2DDD3F1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76800"/>
            <a:ext cx="552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未执行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6EB507B-79FA-4007-AD5A-25C2BCB07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829175"/>
            <a:ext cx="657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拔宿主机网线 / 关闭宿主机上联端口 / 直接关机重启 / 清理进程或文件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0D8DA81-2FB6-4997-8F05-3B4ABC8E3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067300"/>
            <a:ext cx="647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5717D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5717D"/>
                </a:solidFill>
                <a:latin typeface="PingFang SC"/>
                <a:ea typeface="PingFang SC"/>
                <a:cs typeface="PingFang SC"/>
              </a:rPr>
              <a:t>原因：同宿主存在其他业务，且原始状态需要留给取证与责任分析。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25462EF-BCCF-44FD-9EED-074D3F97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293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E86DB17-A055-4D82-B3D4-A03E76FA3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81700"/>
            <a:ext cx="1009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5717D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5717D"/>
                </a:solidFill>
                <a:latin typeface="PingFang SC"/>
                <a:ea typeface="PingFang SC"/>
                <a:cs typeface="PingFang SC"/>
              </a:rPr>
              <a:t>记录字段：服务器 IP、MAC、VM 名称、宿主机名称、端口组、所属网络、断网卡时间、暂停时间、操作人员。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AAAC0AB-E036-41CD-B3C1-3E5A7A47E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AB94E83-CF90-41D8-875F-5165198F3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5717D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65717D"/>
                </a:solidFill>
                <a:latin typeface="PingFang SC"/>
                <a:ea typeface="PingFang SC"/>
                <a:cs typeface="PingFang SC"/>
              </a:rPr>
              <a:t>Source: user-provided incident narrative | Generated briefing draft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221E31-5E0F-4979-84E4-07AA6A0C0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5717D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65717D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8383981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41149F-F1F4-4F7A-AA22-15FA27E9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59020F-7773-4FC0-BDC4-DB8E1E74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B4E7A8-8447-4865-BF3A-6E5CA7046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4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43322D-A1F9-4488-8337-A7707B963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5717D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5717D"/>
                </a:solidFill>
                <a:latin typeface="Avenir Next"/>
                <a:ea typeface="Avenir Next"/>
                <a:cs typeface="Avenir Next"/>
              </a:rPr>
              <a:t>IMPACT AND CONTINUITY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493D26-9AD3-45C2-AF9D-902B1FE92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191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影响面初判与备用机接管并行推进，恢复不触碰原受害机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D3C441-12E0-48F1-9C74-171531CE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8667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5717D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65717D"/>
                </a:solidFill>
                <a:latin typeface="PingFang SC"/>
                <a:ea typeface="PingFang SC"/>
                <a:cs typeface="PingFang SC"/>
              </a:rPr>
              <a:t>22:45 后，处置人员先复核隔离有效，再排查同网络、端口绑定、违规互联、备用机与近期变更记录。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3D0027-2FD5-4F7E-9192-95AC97DE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71700"/>
            <a:ext cx="609600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BCF88B-74F1-4D58-9E91-6CC4DD1FB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影响范围初判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8B5C83-8C9C-4D15-8277-3D3B79F0D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76550"/>
            <a:ext cx="20269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同网络设备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C21242-C8D7-408E-89A4-680E2E80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57500"/>
            <a:ext cx="8763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B65"/>
          </a:solidFill>
          <a:ln xmlns:a="http://schemas.openxmlformats.org/drawingml/2006/main" w="9525">
            <a:solidFill>
              <a:srgbClr val="4C8B6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DE1A8F-6F67-43DC-8F1B-1614C6BF0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95600"/>
            <a:ext cx="685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暂未发现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AAE1CC-D8BB-44B8-90FE-53D42250B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8120" y="2876550"/>
            <a:ext cx="2133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5717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5717D"/>
                </a:solidFill>
                <a:latin typeface="PingFang SC"/>
                <a:ea typeface="PingFang SC"/>
                <a:cs typeface="PingFang SC"/>
              </a:rPr>
              <a:t>无同类后缀异常、勒索提示或响应异常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1702DE-9331-4FB1-BBD0-6B7166441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040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21F990-5528-4B2F-996E-9D055CD73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20269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IP / MAC / 端口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8C7AC2-FE56-40C7-98DF-2BE46C233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371850"/>
            <a:ext cx="8763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B65"/>
          </a:solidFill>
          <a:ln xmlns:a="http://schemas.openxmlformats.org/drawingml/2006/main" w="9525">
            <a:solidFill>
              <a:srgbClr val="4C8B6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54D8C3-DD4D-4E51-AA94-D6F686CB0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09950"/>
            <a:ext cx="685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一致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4F9E4B-0C95-4A10-BEC7-BC6DD2E0E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8120" y="3390900"/>
            <a:ext cx="2133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5717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5717D"/>
                </a:solidFill>
                <a:latin typeface="PingFang SC"/>
                <a:ea typeface="PingFang SC"/>
                <a:cs typeface="PingFang SC"/>
              </a:rPr>
              <a:t>绑定关系和端口台账未见异常变更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CF709C-7410-4307-835E-4F9DA5330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B25941-A718-41E8-93D8-11B41584D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20269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违规互联告警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6B3E5E-9CA6-4345-8C41-D027D8F23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886200"/>
            <a:ext cx="8763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B65"/>
          </a:solidFill>
          <a:ln xmlns:a="http://schemas.openxmlformats.org/drawingml/2006/main" w="9525">
            <a:solidFill>
              <a:srgbClr val="4C8B6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4A7F88-7A1C-425E-B6ED-00F978F3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24300"/>
            <a:ext cx="685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未发现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FE310E-A419-4255-940C-F2543A815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8120" y="3905250"/>
            <a:ext cx="2133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5717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5717D"/>
                </a:solidFill>
                <a:latin typeface="PingFang SC"/>
                <a:ea typeface="PingFang SC"/>
                <a:cs typeface="PingFang SC"/>
              </a:rPr>
              <a:t>未发现内外网违规互联相关告警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7687C1-62F9-4EC9-B652-6F3A291D7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2910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3B9DD3-10F6-461D-8AEF-321605981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19600"/>
            <a:ext cx="20269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备用机状态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4305ED-CB35-4770-A64E-27402B65A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400550"/>
            <a:ext cx="8763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B65"/>
          </a:solidFill>
          <a:ln xmlns:a="http://schemas.openxmlformats.org/drawingml/2006/main" w="9525">
            <a:solidFill>
              <a:srgbClr val="4C8B6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E77930-A8E8-4994-8FD1-95CA0BCCD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38650"/>
            <a:ext cx="685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可接管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47540E-FE15-4A4A-9747-4CBCD017F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8120" y="4419600"/>
            <a:ext cx="2133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5717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5717D"/>
                </a:solidFill>
                <a:latin typeface="PingFang SC"/>
                <a:ea typeface="PingFang SC"/>
                <a:cs typeface="PingFang SC"/>
              </a:rPr>
              <a:t>未见异常进程、服务、计划任务或后缀异常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1692F9-5346-479A-87A7-E2DE77ACF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4345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A56DEE-8536-424D-A666-C29242842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33950"/>
            <a:ext cx="20269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近期变更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B26C4B-B8D1-46D6-938F-392FE472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914900"/>
            <a:ext cx="8763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62F"/>
          </a:solidFill>
          <a:ln xmlns:a="http://schemas.openxmlformats.org/drawingml/2006/main" w="9525">
            <a:solidFill>
              <a:srgbClr val="D5962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C123D8-5CF8-4B32-82CD-26B50E0B9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53000"/>
            <a:ext cx="685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纳入线索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FE6E3F-68A5-4CB2-A5F9-3CC27E4AB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8120" y="4933950"/>
            <a:ext cx="2133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5717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5717D"/>
                </a:solidFill>
                <a:latin typeface="PingFang SC"/>
                <a:ea typeface="PingFang SC"/>
                <a:cs typeface="PingFang SC"/>
              </a:rPr>
              <a:t>上周补丁包来源、摆渡与安装日志登记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CD0F170-E8B3-44EE-9679-23E8E01A1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5780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5D015F9-3CE8-47F3-BC27-3B927CBD4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81250"/>
            <a:ext cx="3143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C8B6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E67DEC6-E818-439A-A11A-200A8B929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8125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B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18610F7-6187-4EA4-A9E7-96CF3C3C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495550"/>
            <a:ext cx="2876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22:50 备用机检查完成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529907F-E163-4C72-8FB9-98307C8D2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762250"/>
            <a:ext cx="2876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5717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5717D"/>
                </a:solidFill>
                <a:latin typeface="PingFang SC"/>
                <a:ea typeface="PingFang SC"/>
                <a:cs typeface="PingFang SC"/>
              </a:rPr>
              <a:t>应用状态、数据备份完整性检查；备份数据至单独存储设备。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CEC726D-3E72-44BF-96DD-BB468B152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562350"/>
            <a:ext cx="121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B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86B67B8-6D88-41CE-A40F-BE7816E7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5242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B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0D3539C-BEB6-40C5-A47C-D7BD32394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33750"/>
            <a:ext cx="1219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4C8B65"/>
                </a:solidFill>
                <a:latin typeface="PingFang SC"/>
                <a:ea typeface="PingFang SC"/>
                <a:cs typeface="PingFang SC"/>
              </a:defRPr>
            </a:pPr>
            <a:r>
              <a:rPr sz="600" b="0">
                <a:solidFill>
                  <a:srgbClr val="4C8B65"/>
                </a:solidFill>
                <a:latin typeface="PingFang SC"/>
                <a:ea typeface="PingFang SC"/>
                <a:cs typeface="PingFang SC"/>
              </a:rPr>
              <a:t>经总指挥确认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565B435-C259-46BA-8356-CC61A168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10000"/>
            <a:ext cx="3143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D6B8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CE3C4E9-0073-470D-81A7-9CDC95899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1000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B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D7F4FBA-5B51-4D41-9959-BECE5F4B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924300"/>
            <a:ext cx="2876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临时切换至备用机运行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51BAFB3-9CF2-4A64-9B29-89541CCE8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191000"/>
            <a:ext cx="2876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5717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5717D"/>
                </a:solidFill>
                <a:latin typeface="PingFang SC"/>
                <a:ea typeface="PingFang SC"/>
                <a:cs typeface="PingFang SC"/>
              </a:rPr>
              <a:t>优先保障夜间必要查询和基本业务处理能力。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23120BF-51AE-424D-8570-8C23F714D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105400"/>
            <a:ext cx="352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11024B8-E9A2-47B9-9D9A-E923A9FCB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25780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边界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86A4E7F-DC43-44FD-9BBA-167196EFC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切换业务，不对受影响服务器重启、清理或恢复，避免破坏证据或二次影响。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AB9D739-21BD-417C-8070-F73A91205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D16E72D-EB7F-4617-A428-B3EF0C4A4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5717D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65717D"/>
                </a:solidFill>
                <a:latin typeface="PingFang SC"/>
                <a:ea typeface="PingFang SC"/>
                <a:cs typeface="PingFang SC"/>
              </a:rPr>
              <a:t>Source: user-provided incident narrative | Generated briefing draft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E15FB35-1590-49BF-AD20-AFF706C6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5717D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65717D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6480138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C44DA8-89C7-439B-A6D1-AE12E3E5B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305CB9-FD7A-4422-958F-8BCDB540C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DB68E8-EC0B-49C9-8A0B-230540DAA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4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7A5135-361F-4189-8906-2795EADBF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5717D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5717D"/>
                </a:solidFill>
                <a:latin typeface="Avenir Next"/>
                <a:ea typeface="Avenir Next"/>
                <a:cs typeface="Avenir Next"/>
              </a:rPr>
              <a:t>FORENSIC CHAIN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43B749-AEFB-426B-8E7B-57E3F00DE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096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取证路径采用“快照—副本—受控恢复”，原受害机继续封存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B90340-9653-4E53-A05C-082196F8A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857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5717D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65717D"/>
                </a:solidFill>
                <a:latin typeface="PingFang SC"/>
                <a:ea typeface="PingFang SC"/>
                <a:cs typeface="PingFang SC"/>
              </a:rPr>
              <a:t>23:00 后，先复核止损措施，再从虚拟化快照生成隔离取证副本；所有导出统一进入干净取证介质。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5A2194-B860-4C8A-A7C6-2A62EFAF9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1905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443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2AF85C-3C57-4D40-B702-9E9152D2F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4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8E15BD-266D-4C63-B9F7-E095BA746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43200"/>
            <a:ext cx="1638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原受影响 VM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3379FB-B375-455D-B133-35E134C96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9900"/>
            <a:ext cx="16383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5717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5717D"/>
                </a:solidFill>
                <a:latin typeface="PingFang SC"/>
                <a:ea typeface="PingFang SC"/>
                <a:cs typeface="PingFang SC"/>
              </a:rPr>
              <a:t>断虚拟网卡 + 暂停运行</a:t>
            </a:r>
          </a:p>
          <a:p xmlns:a="http://schemas.openxmlformats.org/drawingml/2006/main">
            <a:pPr algn="l">
              <a:defRPr sz="788" b="0">
                <a:solidFill>
                  <a:srgbClr val="65717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5717D"/>
                </a:solidFill>
                <a:latin typeface="PingFang SC"/>
                <a:ea typeface="PingFang SC"/>
                <a:cs typeface="PingFang SC"/>
              </a:rPr>
              <a:t>保持现场状态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9371C8-1746-4702-8791-622297AE4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28900"/>
            <a:ext cx="1905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962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C3B958-EDF1-4233-A889-DEC22CEAF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2890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6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C25D49-C350-4D73-83D4-F170ACB84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743200"/>
            <a:ext cx="1638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应急快照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CADC25-111D-4977-9E31-B099A8487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009900"/>
            <a:ext cx="16383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5717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5717D"/>
                </a:solidFill>
                <a:latin typeface="PingFang SC"/>
                <a:ea typeface="PingFang SC"/>
                <a:cs typeface="PingFang SC"/>
              </a:rPr>
              <a:t>固定当前磁盘/状态</a:t>
            </a:r>
          </a:p>
          <a:p xmlns:a="http://schemas.openxmlformats.org/drawingml/2006/main">
            <a:pPr algn="l">
              <a:defRPr sz="788" b="0">
                <a:solidFill>
                  <a:srgbClr val="65717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5717D"/>
                </a:solidFill>
                <a:latin typeface="PingFang SC"/>
                <a:ea typeface="PingFang SC"/>
                <a:cs typeface="PingFang SC"/>
              </a:rPr>
              <a:t>作为证据基线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75A27B-F200-4BAA-9E64-6FAE1C295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628900"/>
            <a:ext cx="2095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D6B8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325213-3962-4D4A-A235-379A89565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62890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B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B05EEA-A69A-40A2-875A-6FECE1CE1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43200"/>
            <a:ext cx="182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隔离取证副本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C37E3B-E978-4302-A282-A267978A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09900"/>
            <a:ext cx="1828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5717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5717D"/>
                </a:solidFill>
                <a:latin typeface="PingFang SC"/>
                <a:ea typeface="PingFang SC"/>
                <a:cs typeface="PingFang SC"/>
              </a:rPr>
              <a:t>受控恢复、截图、导出</a:t>
            </a:r>
          </a:p>
          <a:p xmlns:a="http://schemas.openxmlformats.org/drawingml/2006/main">
            <a:pPr algn="l">
              <a:defRPr sz="788" b="0">
                <a:solidFill>
                  <a:srgbClr val="65717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5717D"/>
                </a:solidFill>
                <a:latin typeface="PingFang SC"/>
                <a:ea typeface="PingFang SC"/>
                <a:cs typeface="PingFang SC"/>
              </a:rPr>
              <a:t>不污染原生产机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1C0EDB-CF9C-4236-A2AB-5F784CB82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28900"/>
            <a:ext cx="2095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C8B6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FDAF2A-5402-4BB9-B75F-FF57560FE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2890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B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DC4881-BEDF-4193-8179-2CF331E9F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743200"/>
            <a:ext cx="182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干净取证介质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327FDF-D5DB-404C-8D75-A7D88EEDB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09900"/>
            <a:ext cx="1828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5717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5717D"/>
                </a:solidFill>
                <a:latin typeface="PingFang SC"/>
                <a:ea typeface="PingFang SC"/>
                <a:cs typeface="PingFang SC"/>
              </a:rPr>
              <a:t>日志、样本、哈希、截图</a:t>
            </a:r>
          </a:p>
          <a:p xmlns:a="http://schemas.openxmlformats.org/drawingml/2006/main">
            <a:pPr algn="l">
              <a:defRPr sz="788" b="0">
                <a:solidFill>
                  <a:srgbClr val="65717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5717D"/>
                </a:solidFill>
                <a:latin typeface="PingFang SC"/>
                <a:ea typeface="PingFang SC"/>
                <a:cs typeface="PingFang SC"/>
              </a:rPr>
              <a:t>统一归档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6F4308-8C47-4718-AF00-E5F6BE994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1432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6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078A37-8FD6-46AF-91CF-86E137956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105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6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FC57D2-A396-4E86-BCDA-6889CBAE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914650"/>
            <a:ext cx="552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D5962F"/>
                </a:solidFill>
                <a:latin typeface="PingFang SC"/>
                <a:ea typeface="PingFang SC"/>
                <a:cs typeface="PingFang SC"/>
              </a:defRPr>
            </a:pPr>
            <a:r>
              <a:rPr sz="600" b="0">
                <a:solidFill>
                  <a:srgbClr val="D5962F"/>
                </a:solidFill>
                <a:latin typeface="PingFang SC"/>
                <a:ea typeface="PingFang SC"/>
                <a:cs typeface="PingFang SC"/>
              </a:rPr>
              <a:t>创建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0F3009-84CF-4FAB-A9C7-5DED42F4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1432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B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11F297-A9FA-484E-B6AC-B3444860A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3105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B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77D91A-5F65-4743-B6B6-07301CB8A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914650"/>
            <a:ext cx="552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2D6B8E"/>
                </a:solidFill>
                <a:latin typeface="PingFang SC"/>
                <a:ea typeface="PingFang SC"/>
                <a:cs typeface="PingFang SC"/>
              </a:defRPr>
            </a:pPr>
            <a:r>
              <a:rPr sz="600" b="0">
                <a:solidFill>
                  <a:srgbClr val="2D6B8E"/>
                </a:solidFill>
                <a:latin typeface="PingFang SC"/>
                <a:ea typeface="PingFang SC"/>
                <a:cs typeface="PingFang SC"/>
              </a:rPr>
              <a:t>派生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AE484B-0F14-4E53-97E7-510AA4CF2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4325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B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4DF63E-3E32-4138-BD20-D432BC43C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105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B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D14815-9274-455C-86D0-9EF4B1478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14650"/>
            <a:ext cx="66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4C8B65"/>
                </a:solidFill>
                <a:latin typeface="PingFang SC"/>
                <a:ea typeface="PingFang SC"/>
                <a:cs typeface="PingFang SC"/>
              </a:defRPr>
            </a:pPr>
            <a:r>
              <a:rPr sz="600" b="0">
                <a:solidFill>
                  <a:srgbClr val="4C8B65"/>
                </a:solidFill>
                <a:latin typeface="PingFang SC"/>
                <a:ea typeface="PingFang SC"/>
                <a:cs typeface="PingFang SC"/>
              </a:rPr>
              <a:t>导出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ED9008-D344-4EAB-8A35-01F64ED1D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76750"/>
            <a:ext cx="9810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23DD18-8D20-4121-A54B-F3E9587B0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24400"/>
            <a:ext cx="8191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FDB748-0EB9-43EA-B733-6BE7BFE2B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62500"/>
            <a:ext cx="628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留痕对象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668C24D-3548-4BC9-AB53-469EE417B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676775"/>
            <a:ext cx="7810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勒索提示界面、异常后缀文件、异常进程、系统服务、计划任务、启动项、WMI 永久事件订阅、系统日志、网络连接状态。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EDDF935-F7FC-45FE-AA1D-5B0693EFF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048250"/>
            <a:ext cx="790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17D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5717D"/>
                </a:solidFill>
                <a:latin typeface="PingFang SC"/>
                <a:ea typeface="PingFang SC"/>
                <a:cs typeface="PingFang SC"/>
              </a:rPr>
              <a:t>工具：ProcessHacker、Everything、Autoruns；用途：进程路径、父子关系、磁盘读写、修改时间、网络连接与自启动项排查。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7DBB22B-FA19-4194-A736-26581A3BA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102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D42C97F-EA03-4650-BB63-A880A354B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6265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原则：先固定、后分析；先副本、后处置；样本哈希和触发时间要能回放。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B02E691-9C96-4C90-823C-612DE7696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9EE0814-0713-4322-BA74-8887D557E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5717D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65717D"/>
                </a:solidFill>
                <a:latin typeface="PingFang SC"/>
                <a:ea typeface="PingFang SC"/>
                <a:cs typeface="PingFang SC"/>
              </a:rPr>
              <a:t>Source: user-provided incident narrative | Generated briefing draft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8E38110-5C17-49D6-82F3-4D4E447E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5717D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65717D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8035546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1A4966-C0C9-42FE-8D02-FA7056E64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A7D104-942D-47AD-A24D-44E346752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B302FF-0417-46A7-A9B0-3A4D80C9C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4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AB2C17-B7D8-4E25-8C8A-DB6F1DC3E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5717D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5717D"/>
                </a:solidFill>
                <a:latin typeface="Avenir Next"/>
                <a:ea typeface="Avenir Next"/>
                <a:cs typeface="Avenir Next"/>
              </a:rPr>
              <a:t>SOURCE HYPOTHESIS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C70D8E-2234-40B1-B9B9-C5FA5083A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477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溯源不是从勒索提示开始，而是从加密时间倒推到补丁落地路径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00F016-6272-412A-BB0F-ADDD3FEA7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857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5717D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65717D"/>
                </a:solidFill>
                <a:latin typeface="PingFang SC"/>
                <a:ea typeface="PingFang SC"/>
                <a:cs typeface="PingFang SC"/>
              </a:rPr>
              <a:t>异常进程、服务、计划任务与补丁解压目录中的可疑文件关联；触发时间与最早加密文件高度接近。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051C19-C9B2-4850-99C0-FD8277A4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95650"/>
            <a:ext cx="933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43F85C-8D44-4E3D-870B-121ABF28C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33700"/>
            <a:ext cx="285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6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3A06D3-C893-4998-A873-50AC4F745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914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6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FB18F5-CA3E-4E24-8B05-9FFCCD93C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876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3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上周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B8B4E4-1A8F-4A15-959E-F7A559EE2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867150"/>
            <a:ext cx="1600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应用版本更新 / 漏洞补丁修复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3E412E-7A74-4A4C-AB3A-E570B6EFA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286250"/>
            <a:ext cx="18288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65717D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65717D"/>
                </a:solidFill>
                <a:latin typeface="PingFang SC"/>
                <a:ea typeface="PingFang SC"/>
                <a:cs typeface="PingFang SC"/>
              </a:rPr>
              <a:t>补丁经官网渠道下载、摆渡机导入内网并在服务器本地安装。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F2CFD7-D91B-44A7-8768-E7B55607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33700"/>
            <a:ext cx="285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4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BB4636-CA14-4E05-817D-AFBFE49D5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495550"/>
            <a:ext cx="914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4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A5DBFE-12B9-4BCD-958D-CA0301891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571750"/>
            <a:ext cx="876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3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22:05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A190FE-9FD5-46B4-ACB2-941C61C45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867150"/>
            <a:ext cx="1600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最早一批被加密文件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2CE8FE-5751-44E3-A9C3-201FC4D0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286250"/>
            <a:ext cx="18288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65717D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65717D"/>
                </a:solidFill>
                <a:latin typeface="PingFang SC"/>
                <a:ea typeface="PingFang SC"/>
                <a:cs typeface="PingFang SC"/>
              </a:rPr>
              <a:t>Everything 按修改时间排序后，最早异常集中在 22:05 左右。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02A7F4-B82F-4A3B-95F6-5ED77B76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933700"/>
            <a:ext cx="285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4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35EE1A-743B-4894-86BB-5BC6C671C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495550"/>
            <a:ext cx="914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4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C3CC7F-C571-4B61-8ACC-2EE664C4B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571750"/>
            <a:ext cx="876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3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22:15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63185D-0E1E-4E57-B85D-5F7C25A77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867150"/>
            <a:ext cx="1600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发现勒索提示与后缀异常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54E8A3-95F8-4F82-AEFD-62E3469A0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286250"/>
            <a:ext cx="18288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65717D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65717D"/>
                </a:solidFill>
                <a:latin typeface="PingFang SC"/>
                <a:ea typeface="PingFang SC"/>
                <a:cs typeface="PingFang SC"/>
              </a:rPr>
              <a:t>业务访问异常、页面缓慢、部分功能超时。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4D27B1-2F2C-40BC-B617-2C704B4E4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933700"/>
            <a:ext cx="285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B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5389DB-34ED-47D4-ADD3-3D66CB8FB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495550"/>
            <a:ext cx="914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B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025C52-0918-4881-A765-545001B92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71750"/>
            <a:ext cx="876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3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23:20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450FA7-C68A-4AEB-9C2C-48291532E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867150"/>
            <a:ext cx="1600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发现可疑落地文件与异常任务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940C44-9F01-4D30-ACDB-D3AE44B0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86250"/>
            <a:ext cx="18288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65717D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65717D"/>
                </a:solidFill>
                <a:latin typeface="PingFang SC"/>
                <a:ea typeface="PingFang SC"/>
                <a:cs typeface="PingFang SC"/>
              </a:rPr>
              <a:t>临时目录、补丁解压目录、安装目录出现与加密前后高度接近的异常组件。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6B8BB7-B1A6-4918-85CD-748EB2881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933700"/>
            <a:ext cx="285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B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787461-D72C-43FC-8D6D-AAF12E251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495550"/>
            <a:ext cx="914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B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60D91B-9C80-453E-A981-84794408F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571750"/>
            <a:ext cx="876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3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00:50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028005-0221-4309-96FA-ACF5CD702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867150"/>
            <a:ext cx="1600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形成初步研判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EC2C173-71C0-460A-B47C-7D0C7DD73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286250"/>
            <a:ext cx="18288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65717D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65717D"/>
                </a:solidFill>
                <a:latin typeface="PingFang SC"/>
                <a:ea typeface="PingFang SC"/>
                <a:cs typeface="PingFang SC"/>
              </a:rPr>
              <a:t>入口指向同批次厂商补丁包存在供应链污染风险。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A25BB06-87B7-41E5-A831-ABC069ABC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10200"/>
            <a:ext cx="9601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4021A3-EFD2-4F2C-AF9D-5DBED3D11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543550"/>
            <a:ext cx="8191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62F"/>
          </a:solidFill>
          <a:ln xmlns:a="http://schemas.openxmlformats.org/drawingml/2006/main" w="9525">
            <a:solidFill>
              <a:srgbClr val="D5962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5E437A6-31C8-400B-A0C7-F8809B2BB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581650"/>
            <a:ext cx="628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研判边界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1E844E6-F4E9-4891-AC3F-B22E727B1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524500"/>
            <a:ext cx="7581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E5E7EB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E5E7EB"/>
                </a:solidFill>
                <a:latin typeface="PingFang SC"/>
                <a:ea typeface="PingFang SC"/>
                <a:cs typeface="PingFang SC"/>
              </a:rPr>
              <a:t>未发现外网直接远控证据、未发现未授权设备接入证据；供应链污染仍需原始包、哈希、数字签名、摆渡机日志、杀毒告警与同批文件比对确认。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522A3D7-C105-41A0-B923-DF74CAE93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EE329ED-912F-438E-ACE2-CC608810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5717D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65717D"/>
                </a:solidFill>
                <a:latin typeface="PingFang SC"/>
                <a:ea typeface="PingFang SC"/>
                <a:cs typeface="PingFang SC"/>
              </a:rPr>
              <a:t>Source: user-provided incident narrative | Generated briefing draft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365FB31-3D0C-4327-8B22-1228CAE41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5717D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65717D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479157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ED2E95-D191-449D-B688-F5E2913C6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85F416-0A71-491F-B952-65B45E584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62C0C6-C604-46B1-BD9A-1064C9E46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4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1B96C3-916A-4E4E-A17D-D66462FFB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5717D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5717D"/>
                </a:solidFill>
                <a:latin typeface="Avenir Next"/>
                <a:ea typeface="Avenir Next"/>
                <a:cs typeface="Avenir Next"/>
              </a:rPr>
              <a:t>EVIDENCE CONFIDENCE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499D5D-E541-4E7A-BC38-59981DCF9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858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“补丁包异常组件触发勒索”是初步研判，不是跳过证据确认的结论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257B8B-CAC2-448F-940C-D4316AD5B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857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5717D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65717D"/>
                </a:solidFill>
                <a:latin typeface="PingFang SC"/>
                <a:ea typeface="PingFang SC"/>
                <a:cs typeface="PingFang SC"/>
              </a:rPr>
              <a:t>这页把证据分成已登记、强关联、待确认三类，便于后续复盘和责任分析继续推进。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264290-A405-426F-860D-BE07C3A79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8191500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B306AD-8CCB-45C0-851E-6B8C212A7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193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5717D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65717D"/>
                </a:solidFill>
                <a:latin typeface="PingFang SC"/>
                <a:ea typeface="PingFang SC"/>
                <a:cs typeface="PingFang SC"/>
              </a:rPr>
              <a:t>证据项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CF63A2-7B8E-4BB7-A99A-5BF20F40E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193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5717D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65717D"/>
                </a:solidFill>
                <a:latin typeface="PingFang SC"/>
                <a:ea typeface="PingFang SC"/>
                <a:cs typeface="PingFang SC"/>
              </a:rPr>
              <a:t>状态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31AB94-0A06-410F-B7E4-53FE9E4AB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4193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5717D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65717D"/>
                </a:solidFill>
                <a:latin typeface="PingFang SC"/>
                <a:ea typeface="PingFang SC"/>
                <a:cs typeface="PingFang SC"/>
              </a:rPr>
              <a:t>说明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02DE23-D920-4F59-9665-F6DC61628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86050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DF0FC5-CDFC-4E22-BB10-1DDEEC220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9560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厂商补丁发布记录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FC64CB-01DD-487E-AF62-C26580284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57500"/>
            <a:ext cx="9144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62F"/>
          </a:solidFill>
          <a:ln xmlns:a="http://schemas.openxmlformats.org/drawingml/2006/main" w="9525">
            <a:solidFill>
              <a:srgbClr val="D5962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0CA360-1E8D-4E86-83F2-288B924BE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95600"/>
            <a:ext cx="72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1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需核验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16B128-43E6-48C8-8AC6-E023AB2C6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86075"/>
            <a:ext cx="2743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5717D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65717D"/>
                </a:solidFill>
                <a:latin typeface="PingFang SC"/>
                <a:ea typeface="PingFang SC"/>
                <a:cs typeface="PingFang SC"/>
              </a:rPr>
              <a:t>确认发布渠道、版本、公告与重新发布说明。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BE0F8B-EEA2-420F-8F6B-61728875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81350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D064D6-2BA8-4EFA-A00D-7A36B7177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9565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外网下载与摆渡记录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55F8D4-E070-45C9-9759-53D3BFA08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57550"/>
            <a:ext cx="9144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B65"/>
          </a:solidFill>
          <a:ln xmlns:a="http://schemas.openxmlformats.org/drawingml/2006/main" w="9525">
            <a:solidFill>
              <a:srgbClr val="4C8B6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F2BCB5-46E5-4CE0-9677-F95B5F7D8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295650"/>
            <a:ext cx="72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1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已登记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0CDA12-11FD-4CEB-B1E9-3F95CD7A6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86125"/>
            <a:ext cx="2743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5717D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65717D"/>
                </a:solidFill>
                <a:latin typeface="PingFang SC"/>
                <a:ea typeface="PingFang SC"/>
                <a:cs typeface="PingFang SC"/>
              </a:rPr>
              <a:t>下载时间、摆渡时间、流转路径纳入证据链。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BDB983-3B80-4BC8-8740-E508601D8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81400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F05A81-A78C-44BA-964F-ABDD25C41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9570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补丁安装日志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04D791-41AF-437B-BEE4-2141E2267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57600"/>
            <a:ext cx="9144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B65"/>
          </a:solidFill>
          <a:ln xmlns:a="http://schemas.openxmlformats.org/drawingml/2006/main" w="9525">
            <a:solidFill>
              <a:srgbClr val="4C8B6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44F04E-FADD-45DF-9EDC-0CE8D2E59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695700"/>
            <a:ext cx="72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1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已登记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C863A3-ED7F-4F8D-887F-18F1FC8EB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686175"/>
            <a:ext cx="2743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5717D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65717D"/>
                </a:solidFill>
                <a:latin typeface="PingFang SC"/>
                <a:ea typeface="PingFang SC"/>
                <a:cs typeface="PingFang SC"/>
              </a:rPr>
              <a:t>安装时间与异常组件落地时间接近。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B65C19-5E40-4498-92FA-4100C2C52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81450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4545B1-DAB1-4200-B535-F7312D499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9575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可疑文件哈希 / 签名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F2A5BC-EB09-40A4-AB1C-D08D1C2CD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057650"/>
            <a:ext cx="9144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62F"/>
          </a:solidFill>
          <a:ln xmlns:a="http://schemas.openxmlformats.org/drawingml/2006/main" w="9525">
            <a:solidFill>
              <a:srgbClr val="D5962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5A78AD-5CAF-4AC1-A19C-B368F4EC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095750"/>
            <a:ext cx="72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1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待确认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A9CBC8-380D-45D9-A63D-45429CF59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086225"/>
            <a:ext cx="2743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5717D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65717D"/>
                </a:solidFill>
                <a:latin typeface="PingFang SC"/>
                <a:ea typeface="PingFang SC"/>
                <a:cs typeface="PingFang SC"/>
              </a:rPr>
              <a:t>需要原始包与同批文件比对。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553FC8-6F55-4FB6-BE5E-7F23C27CC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81500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A071E7-3D85-49C7-8DAB-CB967D213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9580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异常服务 / 计划任务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E4FD405-2E13-4D00-9415-A2202902B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457700"/>
            <a:ext cx="9144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432"/>
          </a:solidFill>
          <a:ln xmlns:a="http://schemas.openxmlformats.org/drawingml/2006/main" w="9525">
            <a:solidFill>
              <a:srgbClr val="C7443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A028E5C-CCAE-4B37-92EA-BCBBA6DF7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495800"/>
            <a:ext cx="72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1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强关联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3CC24F3-D1F2-4E01-9EA6-A340BD680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86275"/>
            <a:ext cx="2743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5717D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65717D"/>
                </a:solidFill>
                <a:latin typeface="PingFang SC"/>
                <a:ea typeface="PingFang SC"/>
                <a:cs typeface="PingFang SC"/>
              </a:rPr>
              <a:t>创建和触发时间与加密开始时间高度接近。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08B0CDF-F9BC-4B2A-AD59-0A4F68C35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81550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14CA49C-7959-424B-B1C6-882866179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9585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最早加密文件时间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DA3C67D-46F3-4B43-9C5A-7BBACB97E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57750"/>
            <a:ext cx="9144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432"/>
          </a:solidFill>
          <a:ln xmlns:a="http://schemas.openxmlformats.org/drawingml/2006/main" w="9525">
            <a:solidFill>
              <a:srgbClr val="C7443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97D599D-3A73-4AD3-8CD8-E0F8F7A0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895850"/>
            <a:ext cx="72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1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强关联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730AFB3-D2C6-47BA-8484-B6854A38D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886325"/>
            <a:ext cx="2743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5717D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65717D"/>
                </a:solidFill>
                <a:latin typeface="PingFang SC"/>
                <a:ea typeface="PingFang SC"/>
                <a:cs typeface="PingFang SC"/>
              </a:rPr>
              <a:t>22:05 左右，支撑触发窗口判断。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CC32FD8-EB09-4365-B2D8-A4A63B2B0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81600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1D52354-28A3-4E65-BC51-47E5D64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9590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同网设备排查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6553E65-397D-41B7-9DD4-E0D42709E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257800"/>
            <a:ext cx="9144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B65"/>
          </a:solidFill>
          <a:ln xmlns:a="http://schemas.openxmlformats.org/drawingml/2006/main" w="9525">
            <a:solidFill>
              <a:srgbClr val="4C8B6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1C33D3D-ED4F-4B65-AD26-4F0BA5CCD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295900"/>
            <a:ext cx="72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1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暂未扩散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6FCC3A3-0361-40C8-8BFC-88B08CDD3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286375"/>
            <a:ext cx="2743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5717D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65717D"/>
                </a:solidFill>
                <a:latin typeface="PingFang SC"/>
                <a:ea typeface="PingFang SC"/>
                <a:cs typeface="PingFang SC"/>
              </a:rPr>
              <a:t>未见同类异常，影响面暂收敛。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CECA3EC-F900-4B10-B671-E6BD781D0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81650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F9B8D01-1B92-4417-84BF-6BF4D32B3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266950"/>
            <a:ext cx="1809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0A74D3A-CABC-497D-B6CE-0485FBD85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955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处置动作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26AF43A-D31A-44E5-A67B-12921DD34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14650"/>
            <a:ext cx="13906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01 暂停同批次补丁继续分发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63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02 排查接触补丁的下载终端、摆渡机、运维终端、备用机与同网服务器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63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03 封存勒索落地文件、异常组件与配置文件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3426A27-4413-4835-816E-774970877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33950"/>
            <a:ext cx="180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962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00ACFB7-7334-49D9-BDDA-B2DC4571B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12445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5962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5962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783DCC6-8FCE-4036-9D7A-1F2AC89D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295900"/>
            <a:ext cx="1390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哈希、签名、日志、同批文件比对与厂商确认。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7173F54-C14F-45FA-8851-8D9599F5E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E80ADB0-F9F9-4D1C-87FA-4DDB20A16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5717D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65717D"/>
                </a:solidFill>
                <a:latin typeface="PingFang SC"/>
                <a:ea typeface="PingFang SC"/>
                <a:cs typeface="PingFang SC"/>
              </a:rPr>
              <a:t>Source: user-provided incident narrative | Generated briefing draft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264764C-DDD8-460C-AF94-C92EB4831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5717D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65717D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3504522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FB2140-9E82-4BD0-A5DE-1D29F4E68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7D5E97-FBC8-462A-9B1A-C8388F30B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2C01CD-43E2-46BF-9673-C6518D778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4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74E091-BF7A-430E-8E4A-8036ADAC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5717D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5717D"/>
                </a:solidFill>
                <a:latin typeface="Avenir Next"/>
                <a:ea typeface="Avenir Next"/>
                <a:cs typeface="Avenir Next"/>
              </a:rPr>
              <a:t>RECOVERY DECISION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35DF4E-171C-4638-AA44-A08FBFB87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477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恢复策略拒绝“原机修复上线”：新建生产 VM 才是可控路径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2CD6DA-98D0-4A2F-9521-929FB308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895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5717D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65717D"/>
                </a:solidFill>
                <a:latin typeface="PingFang SC"/>
                <a:ea typeface="PingFang SC"/>
                <a:cs typeface="PingFang SC"/>
              </a:rPr>
              <a:t>02:20 左右明确：原受影响 VM 继续隔离封存；新建生产虚拟机完成标准化、加固、部署和业务验证后再接入原网络。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2E312E-47C1-4212-B1E6-604D117E8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8859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443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803793-368A-4D6B-A402-C71F7A3DF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4762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4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9D622C-EBBC-4E02-9A56-0C1697376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原 VM 封存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DEA3DB-6491-4AB9-A83B-276431A4F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161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5717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5717D"/>
                </a:solidFill>
                <a:latin typeface="PingFang SC"/>
                <a:ea typeface="PingFang SC"/>
                <a:cs typeface="PingFang SC"/>
              </a:rPr>
              <a:t>暂停 + 网络隔离</a:t>
            </a:r>
          </a:p>
          <a:p xmlns:a="http://schemas.openxmlformats.org/drawingml/2006/main">
            <a:pPr algn="l">
              <a:defRPr sz="788" b="0">
                <a:solidFill>
                  <a:srgbClr val="65717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5717D"/>
                </a:solidFill>
                <a:latin typeface="PingFang SC"/>
                <a:ea typeface="PingFang SC"/>
                <a:cs typeface="PingFang SC"/>
              </a:rPr>
              <a:t>快照/副本/日志/样本归档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47E389-C570-4C0F-95FC-76EA1AE9B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24150"/>
            <a:ext cx="18859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D6B8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244B59-7AB7-4E5E-92D0-9958E51ED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24150"/>
            <a:ext cx="4762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B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E5BBAA-6DBA-4A04-9156-2263A38C0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384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新建生产 VM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D94674-DC4B-4228-8B9D-94BA99931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05150"/>
            <a:ext cx="161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5717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5717D"/>
                </a:solidFill>
                <a:latin typeface="PingFang SC"/>
                <a:ea typeface="PingFang SC"/>
                <a:cs typeface="PingFang SC"/>
              </a:rPr>
              <a:t>标准化配置</a:t>
            </a:r>
          </a:p>
          <a:p xmlns:a="http://schemas.openxmlformats.org/drawingml/2006/main">
            <a:pPr algn="l">
              <a:defRPr sz="788" b="0">
                <a:solidFill>
                  <a:srgbClr val="65717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5717D"/>
                </a:solidFill>
                <a:latin typeface="PingFang SC"/>
                <a:ea typeface="PingFang SC"/>
                <a:cs typeface="PingFang SC"/>
              </a:rPr>
              <a:t>系统加固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45FEA8-F2F8-4BF7-9AB6-0E7C681B9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24150"/>
            <a:ext cx="18859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D6B8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145F36-632A-41D2-97A8-AA3E32F0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24150"/>
            <a:ext cx="4762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B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23F079-C837-4D3D-9D9F-8DEF7C3F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384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应用部署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3E5045-E341-4D30-B460-F464E3915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05150"/>
            <a:ext cx="161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5717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5717D"/>
                </a:solidFill>
                <a:latin typeface="PingFang SC"/>
                <a:ea typeface="PingFang SC"/>
                <a:cs typeface="PingFang SC"/>
              </a:rPr>
              <a:t>服务端应用部署</a:t>
            </a:r>
          </a:p>
          <a:p xmlns:a="http://schemas.openxmlformats.org/drawingml/2006/main">
            <a:pPr algn="l">
              <a:defRPr sz="788" b="0">
                <a:solidFill>
                  <a:srgbClr val="65717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5717D"/>
                </a:solidFill>
                <a:latin typeface="PingFang SC"/>
                <a:ea typeface="PingFang SC"/>
                <a:cs typeface="PingFang SC"/>
              </a:rPr>
              <a:t>异常补丁暂停安装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834412-F3DD-435A-AD43-613758EEE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24150"/>
            <a:ext cx="18859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C8B6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7F7927-CBBB-4049-A34E-EA5ECA16B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24150"/>
            <a:ext cx="4762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B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5776C5-1FB8-482E-9A22-77868DEE7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8384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业务验证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6200EC-5D83-4B27-A86C-B09966E97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105150"/>
            <a:ext cx="161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5717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5717D"/>
                </a:solidFill>
                <a:latin typeface="PingFang SC"/>
                <a:ea typeface="PingFang SC"/>
                <a:cs typeface="PingFang SC"/>
              </a:rPr>
              <a:t>功能验证、日志观察</a:t>
            </a:r>
          </a:p>
          <a:p xmlns:a="http://schemas.openxmlformats.org/drawingml/2006/main">
            <a:pPr algn="l">
              <a:defRPr sz="788" b="0">
                <a:solidFill>
                  <a:srgbClr val="65717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5717D"/>
                </a:solidFill>
                <a:latin typeface="PingFang SC"/>
                <a:ea typeface="PingFang SC"/>
                <a:cs typeface="PingFang SC"/>
              </a:rPr>
              <a:t>资源与安全告警检查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7D5EF2-AA9C-4881-97C6-B854E916B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2194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4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F611B6-5B62-44A6-AB34-F284EAAA8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181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4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25CFC9-B30B-42F8-BEE2-E5CD4BDFB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990850"/>
            <a:ext cx="552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C74432"/>
                </a:solidFill>
                <a:latin typeface="PingFang SC"/>
                <a:ea typeface="PingFang SC"/>
                <a:cs typeface="PingFang SC"/>
              </a:defRPr>
            </a:pPr>
            <a:r>
              <a:rPr sz="600" b="0">
                <a:solidFill>
                  <a:srgbClr val="C74432"/>
                </a:solidFill>
                <a:latin typeface="PingFang SC"/>
                <a:ea typeface="PingFang SC"/>
                <a:cs typeface="PingFang SC"/>
              </a:rPr>
              <a:t>不直接恢复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7C09CC-C860-463E-8155-DFCA8A3E4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194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B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AEC97A-8286-46C7-9271-3D33EBA3C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181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B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BFFD94-4A39-4919-A663-85AF453D6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990850"/>
            <a:ext cx="552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2D6B8E"/>
                </a:solidFill>
                <a:latin typeface="PingFang SC"/>
                <a:ea typeface="PingFang SC"/>
                <a:cs typeface="PingFang SC"/>
              </a:defRPr>
            </a:pPr>
            <a:r>
              <a:rPr sz="600" b="0">
                <a:solidFill>
                  <a:srgbClr val="2D6B8E"/>
                </a:solidFill>
                <a:latin typeface="PingFang SC"/>
                <a:ea typeface="PingFang SC"/>
                <a:cs typeface="PingFang SC"/>
              </a:rPr>
              <a:t>重建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93FED1-9A06-4E45-A903-F7968F4D2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194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B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0E5BF8-66B0-4EFA-B733-10C887621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81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B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0B44D0-472A-481D-A27D-E58567B1A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990850"/>
            <a:ext cx="552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4C8B65"/>
                </a:solidFill>
                <a:latin typeface="PingFang SC"/>
                <a:ea typeface="PingFang SC"/>
                <a:cs typeface="PingFang SC"/>
              </a:defRPr>
            </a:pPr>
            <a:r>
              <a:rPr sz="600" b="0">
                <a:solidFill>
                  <a:srgbClr val="4C8B65"/>
                </a:solidFill>
                <a:latin typeface="PingFang SC"/>
                <a:ea typeface="PingFang SC"/>
                <a:cs typeface="PingFang SC"/>
              </a:rPr>
              <a:t>验证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44850D-4126-45CE-AB5F-3957352AD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62500"/>
            <a:ext cx="388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C6B6A8-A5C1-4D74-AC45-6A02CC3BE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0150"/>
            <a:ext cx="8191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62F"/>
          </a:solidFill>
          <a:ln xmlns:a="http://schemas.openxmlformats.org/drawingml/2006/main" w="9525">
            <a:solidFill>
              <a:srgbClr val="D5962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A953EEA-714E-4C9A-954A-9A8C1E080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048250"/>
            <a:ext cx="628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补丁处理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FDE1890-1ACE-471C-B6A1-9CA06AAD7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905375"/>
            <a:ext cx="2266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待厂商澄清或重新发布安全版本后，再经公告核验、签名校验、哈希比对、离线查杀、测试环境验证。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097B6B1-2D99-4B4A-A684-F5D05DCB9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62500"/>
            <a:ext cx="388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060554D-BA8E-40C5-B395-D70E90FF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010150"/>
            <a:ext cx="8191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B65"/>
          </a:solidFill>
          <a:ln xmlns:a="http://schemas.openxmlformats.org/drawingml/2006/main" w="9525">
            <a:solidFill>
              <a:srgbClr val="4C8B6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F84E0A0-30D5-47B7-A88C-9EB76F2EF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048250"/>
            <a:ext cx="628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接入条件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353045D-506C-4C80-9D81-DC0248A32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905375"/>
            <a:ext cx="2266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业务验证通过、审批完成后，才接入原业务网络；原机和取证副本待报告、复盘、证据归档后再处置。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E54F140-1D27-41E3-82DC-A614484DD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40B064F-D333-4483-852F-743699A65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5717D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65717D"/>
                </a:solidFill>
                <a:latin typeface="PingFang SC"/>
                <a:ea typeface="PingFang SC"/>
                <a:cs typeface="PingFang SC"/>
              </a:rPr>
              <a:t>Source: user-provided incident narrative | Generated briefing draft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6FFF6B8-B336-4F15-B552-41F6C5062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5717D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65717D"/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1032141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BE35CE-83E3-440E-9FAC-90AAB0DDB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9F8B30-2527-4A98-8CAF-F72BEBD0E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B41E51-EB7E-4E14-B083-21DE5104E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4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A43F6F-88C7-4F0E-8E91-4E7D6D358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5717D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5717D"/>
                </a:solidFill>
                <a:latin typeface="Avenir Next"/>
                <a:ea typeface="Avenir Next"/>
                <a:cs typeface="Avenir Next"/>
              </a:rPr>
              <a:t>REPORTING AND RISK NOTICE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C0AA27-05C1-4CD5-A71A-CECD7B7C4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477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本地事件被升级为同批次补丁风险，避免其他单位重复踩坑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086610-54A3-4F4E-A25E-0D347934C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904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5717D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65717D"/>
                </a:solidFill>
                <a:latin typeface="PingFang SC"/>
                <a:ea typeface="PingFang SC"/>
                <a:cs typeface="PingFang SC"/>
              </a:rPr>
              <a:t>02:50 汇报阶段性结果；03:30 向上级网络安全主管部门报告涉事补丁包风险信息，并建议相关单位暂停安装、开展协查。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31D099-F221-4F00-A33D-48D35DFA9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05100"/>
            <a:ext cx="2190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D6B8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9361ED-6D8A-4C19-88A4-20E0765D9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0510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B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C912F3-A7D9-4F76-9F02-4C5257B9E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19400"/>
            <a:ext cx="1924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现场处置组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9C08B5-C5E8-4768-8529-DE2378B16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86100"/>
            <a:ext cx="19240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5717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5717D"/>
                </a:solidFill>
                <a:latin typeface="PingFang SC"/>
                <a:ea typeface="PingFang SC"/>
                <a:cs typeface="PingFang SC"/>
              </a:rPr>
              <a:t>隔离完成、备用机运行、同批补丁暂停、其他设备暂未同类异常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C592A3-0AEF-4904-9992-95FE104EA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705100"/>
            <a:ext cx="2190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962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E2CFA6-6106-41E7-81B3-CB867E8F0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70510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6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E3EF23-0D6F-4797-8C06-600A50354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819400"/>
            <a:ext cx="1924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总指挥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7CD45B-BF59-4B67-A5F2-36E196A0A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86100"/>
            <a:ext cx="19240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5717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5717D"/>
                </a:solidFill>
                <a:latin typeface="PingFang SC"/>
                <a:ea typeface="PingFang SC"/>
                <a:cs typeface="PingFang SC"/>
              </a:rPr>
              <a:t>要求继续监测，待新生产 VM 部署/加固/验证后恢复正式环境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B5C954-FC37-492D-B63E-B7417EE4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05100"/>
            <a:ext cx="2381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C8B6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F44494-5674-464D-9C26-9AB07D4C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0510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B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7D8610-6189-45D6-AE41-BE437481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19400"/>
            <a:ext cx="2114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上级主管部门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50F3EF-DC0B-42EC-918B-1FE916C87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086100"/>
            <a:ext cx="21145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5717D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5717D"/>
                </a:solidFill>
                <a:latin typeface="PingFang SC"/>
                <a:ea typeface="PingFang SC"/>
                <a:cs typeface="PingFang SC"/>
              </a:rPr>
              <a:t>接收补丁包名称、版本、来源、下载/摆渡时间、哈希与已采取措施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280F42-D6CA-41F4-B3E1-0D511F6B5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05100"/>
            <a:ext cx="1809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443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C73D18-B344-47EB-BC0A-8333A5408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0510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4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B65637-2A10-4311-BCF9-62A7C84E7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819400"/>
            <a:ext cx="1543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相关单位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3DCBA1-E302-468E-8676-81E3CE44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086100"/>
            <a:ext cx="15430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17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65717D"/>
                </a:solidFill>
                <a:latin typeface="PingFang SC"/>
                <a:ea typeface="PingFang SC"/>
                <a:cs typeface="PingFang SC"/>
              </a:rPr>
              <a:t>暂停同批补丁安装；对已下载或安装系统开展协查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E2E5F5-66CD-4907-BA1A-EA38D632A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0040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B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6333DD-E4DD-4163-A16D-E005F0FD9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162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B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902A43-8F75-4D4A-8436-FA4A6EF92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9718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2D6B8E"/>
                </a:solidFill>
                <a:latin typeface="PingFang SC"/>
                <a:ea typeface="PingFang SC"/>
                <a:cs typeface="PingFang SC"/>
              </a:defRPr>
            </a:pPr>
            <a:r>
              <a:rPr sz="600" b="0">
                <a:solidFill>
                  <a:srgbClr val="2D6B8E"/>
                </a:solidFill>
                <a:latin typeface="PingFang SC"/>
                <a:ea typeface="PingFang SC"/>
                <a:cs typeface="PingFang SC"/>
              </a:rPr>
              <a:t>02:50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10EF6C-52DC-47EB-B5C1-4237D352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20040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B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FA7CD2-12A4-4CE2-86D9-ADFE9B8F1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162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B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C27221-C4C1-4163-82D5-322E937C3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971800"/>
            <a:ext cx="552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4C8B65"/>
                </a:solidFill>
                <a:latin typeface="PingFang SC"/>
                <a:ea typeface="PingFang SC"/>
                <a:cs typeface="PingFang SC"/>
              </a:defRPr>
            </a:pPr>
            <a:r>
              <a:rPr sz="600" b="0">
                <a:solidFill>
                  <a:srgbClr val="4C8B65"/>
                </a:solidFill>
                <a:latin typeface="PingFang SC"/>
                <a:ea typeface="PingFang SC"/>
                <a:cs typeface="PingFang SC"/>
              </a:rPr>
              <a:t>03:30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3C9EA6-B75E-43CE-AD93-B7272D71D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0040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4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79BD35-9F47-4DCF-944D-E3E31CBB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3162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4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A9A2C9-4458-4CD8-8C71-31DE68BDE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971800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C74432"/>
                </a:solidFill>
                <a:latin typeface="PingFang SC"/>
                <a:ea typeface="PingFang SC"/>
                <a:cs typeface="PingFang SC"/>
              </a:defRPr>
            </a:pPr>
            <a:r>
              <a:rPr sz="600" b="0">
                <a:solidFill>
                  <a:srgbClr val="C74432"/>
                </a:solidFill>
                <a:latin typeface="PingFang SC"/>
                <a:ea typeface="PingFang SC"/>
                <a:cs typeface="PingFang SC"/>
              </a:rPr>
              <a:t>风险提醒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0CA097-9B59-470D-8F53-4A2AB0412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43450"/>
            <a:ext cx="8953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1BA630-0FAF-4B6C-92BD-2F172DB7D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972050"/>
            <a:ext cx="8191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FB34DD0-8DA1-483D-AE8D-5D10D8AFC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010150"/>
            <a:ext cx="628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报告字段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FB24E28-FCE6-4ED7-AF5A-B24B34A8F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895850"/>
            <a:ext cx="695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涉事补丁包名称、版本号、厂商来源、下载时间、摆渡时间、文件哈希值、安装服务器、异常现象、初步研判结果、已采取措施。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3F289D2-3754-4A13-9090-F89622182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810250"/>
            <a:ext cx="895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D8ACE19-DF9E-4F3A-91B9-C564A834C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81700"/>
            <a:ext cx="800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这一步把“恢复单个业务系统”升级为“阻断同批次供应链风险继续扩散”。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73247D7-998F-4A93-AAB9-7DBC955FB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81D5258-E1D5-4872-BEE6-616197EEB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5717D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65717D"/>
                </a:solidFill>
                <a:latin typeface="PingFang SC"/>
                <a:ea typeface="PingFang SC"/>
                <a:cs typeface="PingFang SC"/>
              </a:rPr>
              <a:t>Source: user-provided incident narrative | Generated briefing draft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EF50F8A-179A-4F5C-905A-944026B0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5717D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65717D"/>
                </a:solidFill>
                <a:latin typeface="Avenir Next"/>
                <a:ea typeface="Avenir Next"/>
                <a:cs typeface="Avenir Next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5952041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5F4D5E-D747-4BB4-A1FE-22EE7BE5F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0BA5F5-DC7B-4EE2-9ECD-63AF0B3C0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BC64B2-1E1A-4651-AAE4-2F36CDD0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4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82F78A-8C4E-42D7-B3E7-6DA61F5E2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5717D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5717D"/>
                </a:solidFill>
                <a:latin typeface="Avenir Next"/>
                <a:ea typeface="Avenir Next"/>
                <a:cs typeface="Avenir Next"/>
              </a:rPr>
              <a:t>REMEDIATION ROADMAP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4A39D7-AE9B-4693-AA9F-C4250A2DD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858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复盘整改的核心，是让补丁进入生产前先被验证、被留痕、被灰度观察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49E90B-FF45-4DD4-9F70-EC68BBA08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8858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5717D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65717D"/>
                </a:solidFill>
                <a:latin typeface="PingFang SC"/>
                <a:ea typeface="PingFang SC"/>
                <a:cs typeface="PingFang SC"/>
              </a:rPr>
              <a:t>次日 09:00 复盘认为应急处置形成闭环；后续要把“补丁可信”从经验判断改成证据流程。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5FD29B-0B4C-48B8-BFFA-F6E5E9AD7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21526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A0DAD2-E3FE-4D55-A09E-F44BCCED9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B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99BF49-18F9-4286-BE62-61D05DBAC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81300"/>
            <a:ext cx="552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D6B8E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2D6B8E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2783DB-589A-4576-B5A5-951EC5815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19450"/>
            <a:ext cx="163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补丁来源登记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B55590-D5D2-4380-A3DB-082076EEF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38550"/>
            <a:ext cx="1543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17D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5717D"/>
                </a:solidFill>
                <a:latin typeface="PingFang SC"/>
                <a:ea typeface="PingFang SC"/>
                <a:cs typeface="PingFang SC"/>
              </a:rPr>
              <a:t>记录来源、版本、下载人、下载终端、摆渡路径与审批单。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E71F6A-9369-4FF7-A3BC-1FC50512C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33650"/>
            <a:ext cx="21526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4D52DA-2111-4226-AB2E-086E0EF97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3365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B6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91FAD5-F3B5-428D-8267-5C9E17AD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781300"/>
            <a:ext cx="552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C8B65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4C8B65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E7B6E8-9C8D-4FFA-A3C1-98AF95F18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219450"/>
            <a:ext cx="163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签名 / 哈希校验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A587B3-5EC9-4DAB-83F4-DFA3A9755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638550"/>
            <a:ext cx="1543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17D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5717D"/>
                </a:solidFill>
                <a:latin typeface="PingFang SC"/>
                <a:ea typeface="PingFang SC"/>
                <a:cs typeface="PingFang SC"/>
              </a:rPr>
              <a:t>安装前做数字签名、哈希登记、离线查杀和同批留样。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893D15-5800-48D6-A74A-13B1EAF6B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33650"/>
            <a:ext cx="21526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41CF15-5B78-463F-A8F0-3FBB5059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3365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96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5D0392-93EF-459E-8BEA-ABE158BC4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81300"/>
            <a:ext cx="552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5962F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D5962F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0D65BB-7B0E-4F32-B0D1-73F672437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19450"/>
            <a:ext cx="163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灰度发布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50F621-016D-416C-B276-21427E2DA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38550"/>
            <a:ext cx="1543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17D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5717D"/>
                </a:solidFill>
                <a:latin typeface="PingFang SC"/>
                <a:ea typeface="PingFang SC"/>
                <a:cs typeface="PingFang SC"/>
              </a:rPr>
              <a:t>测试环境 → 非核心服务器 → 备用机/低影响业务 → 单台生产 → 分批推广。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9A0F37-97CB-4689-B3D9-8C474ED2D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33650"/>
            <a:ext cx="21526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20AAF3-30DC-4507-9BAC-C92C19DD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3365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4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EE7C17-91EC-4DF4-9564-DAF68647D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781300"/>
            <a:ext cx="552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74432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C74432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B3430C-8813-48A3-B1C3-10D91F13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219450"/>
            <a:ext cx="163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批间观察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CBE544-74D4-466C-8B38-89755821F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638550"/>
            <a:ext cx="1543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17D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5717D"/>
                </a:solidFill>
                <a:latin typeface="PingFang SC"/>
                <a:ea typeface="PingFang SC"/>
                <a:cs typeface="PingFang SC"/>
              </a:rPr>
              <a:t>观察文件变化、资源占用、服务/计划任务、网络连接、安全告警和业务日志。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5A497F-F4AA-47D7-91A6-7CD67F9A9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914900"/>
            <a:ext cx="8191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215DBB-7771-4819-BEF0-68DE95408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62550"/>
            <a:ext cx="8191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B65"/>
          </a:solidFill>
          <a:ln xmlns:a="http://schemas.openxmlformats.org/drawingml/2006/main" w="9525">
            <a:solidFill>
              <a:srgbClr val="4C8B6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67A747-7659-4B2F-8495-E6388DDE0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00650"/>
            <a:ext cx="628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闭环状态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20063F-A359-4945-8A82-4E725E9C6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067300"/>
            <a:ext cx="581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已完成：异常发现、VM 隔离、备用机切换、补丁包风险研判、上级风险通报。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40E52B-5374-400A-992F-901D5413F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334000"/>
            <a:ext cx="6076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DCE3EA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DCE3EA"/>
                </a:solidFill>
                <a:latin typeface="PingFang SC"/>
                <a:ea typeface="PingFang SC"/>
                <a:cs typeface="PingFang SC"/>
              </a:rPr>
              <a:t>待完成：厂商/哈希/签名/摆渡日志确认，新建生产 VM 审批接入，报告与证据归档。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8FFBD4-CD6B-4023-B0EE-88217EA0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92455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007C230-9527-4625-9E8B-1A8EBCB45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60769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A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202A"/>
                </a:solidFill>
                <a:latin typeface="PingFang SC"/>
                <a:ea typeface="PingFang SC"/>
                <a:cs typeface="PingFang SC"/>
              </a:rPr>
              <a:t>建议下一轮汇报：补丁包证据确认结果 + 新生产 VM 接入审批状态 + 同批次协查结果。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CF00ED6-A8DF-439F-8533-E3E42CA4D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DF6D9B9-E7BC-4A3C-A2CA-309BB0130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5717D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65717D"/>
                </a:solidFill>
                <a:latin typeface="PingFang SC"/>
                <a:ea typeface="PingFang SC"/>
                <a:cs typeface="PingFang SC"/>
              </a:rPr>
              <a:t>Source: user-provided incident narrative | Generated briefing draft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4E7115A-679B-4F3D-88D8-A24145B56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5717D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65717D"/>
                </a:solidFill>
                <a:latin typeface="Avenir Next"/>
                <a:ea typeface="Avenir Next"/>
                <a:cs typeface="Avenir Next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022761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2026-05-08T08:12:24.2530000Z</dcterms:created>
  <dcterms:modified xsi:type="dcterms:W3CDTF">2026-05-08T08:12:24.2540000Z</dcterms:modified>
</coreProperties>
</file>